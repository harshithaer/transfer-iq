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24" r:id="rId10"/>
    <p:sldId id="322" r:id="rId11"/>
    <p:sldId id="315" r:id="rId12"/>
    <p:sldId id="317" r:id="rId13"/>
    <p:sldId id="323" r:id="rId14"/>
    <p:sldId id="321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91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fer-iq-2tummjybe7u7tzkl3wxyzz.streamlit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2281084"/>
            <a:ext cx="6392421" cy="2360364"/>
          </a:xfrm>
        </p:spPr>
        <p:txBody>
          <a:bodyPr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Performance Analysis of Transfer Value Prediction Models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400" b="0" cap="none" dirty="0">
                <a:solidFill>
                  <a:schemeClr val="tx1"/>
                </a:solidFill>
                <a:latin typeface="+mn-lt"/>
              </a:rPr>
              <a:t>Performed By:</a:t>
            </a:r>
            <a:br>
              <a:rPr lang="en-US" sz="2400" b="0" dirty="0">
                <a:solidFill>
                  <a:schemeClr val="tx1"/>
                </a:solidFill>
                <a:latin typeface="+mn-lt"/>
              </a:rPr>
            </a:br>
            <a:r>
              <a:rPr lang="en-US" sz="2400" b="0" dirty="0">
                <a:solidFill>
                  <a:schemeClr val="tx1"/>
                </a:solidFill>
                <a:latin typeface="+mn-lt"/>
              </a:rPr>
              <a:t>ERNI SRI HARSHITHA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8283F-72FE-0A66-541A-26F6630D7FEA}"/>
              </a:ext>
            </a:extLst>
          </p:cNvPr>
          <p:cNvSpPr txBox="1"/>
          <p:nvPr/>
        </p:nvSpPr>
        <p:spPr>
          <a:xfrm>
            <a:off x="6971071" y="4916129"/>
            <a:ext cx="3883742" cy="1435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2943"/>
            <a:ext cx="6583680" cy="1531357"/>
          </a:xfrm>
        </p:spPr>
        <p:txBody>
          <a:bodyPr/>
          <a:lstStyle/>
          <a:p>
            <a:r>
              <a:rPr lang="en-US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48" y="2441350"/>
            <a:ext cx="6583680" cy="320734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 diagram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viability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66452"/>
            <a:ext cx="9556955" cy="4188235"/>
          </a:xfrm>
        </p:spPr>
        <p:txBody>
          <a:bodyPr/>
          <a:lstStyle/>
          <a:p>
            <a:r>
              <a:rPr lang="en-US" sz="24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Football player transfer valuation is highly complex and often inaccurate due to:</a:t>
            </a:r>
            <a:b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influencing factors (performance, age, injuries)</a:t>
            </a:r>
            <a:b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market fluctuations</a:t>
            </a:r>
            <a:b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subjective human judgement</a:t>
            </a:r>
            <a:b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lack of integrated data analysis current systems lack real-time AI based valuation models.</a:t>
            </a:r>
            <a:b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24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 scalable AI system that predicts player transfer value using multi-source data and machine learning.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68534-0F51-799B-B65B-6DAA0BCDDDBF}"/>
              </a:ext>
            </a:extLst>
          </p:cNvPr>
          <p:cNvSpPr txBox="1"/>
          <p:nvPr/>
        </p:nvSpPr>
        <p:spPr>
          <a:xfrm>
            <a:off x="914400" y="648930"/>
            <a:ext cx="8377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06267"/>
            <a:ext cx="10196052" cy="4007896"/>
          </a:xfrm>
        </p:spPr>
        <p:txBody>
          <a:bodyPr>
            <a:noAutofit/>
          </a:bodyPr>
          <a:lstStyle/>
          <a:p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TransferIQ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AI powered analytics platform that: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Integrates player performance data</a:t>
            </a:r>
            <a:b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Uses time-series forecasting</a:t>
            </a:r>
            <a:b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Applies sentiment analysis</a:t>
            </a:r>
            <a:b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Combines ensemble ML models</a:t>
            </a:r>
            <a:b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dynamic value prediction</a:t>
            </a:r>
          </a:p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static valuation systems,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TransferIQ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intelligence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driven 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5E4C8-E8D2-20E9-4723-7352134D413C}"/>
              </a:ext>
            </a:extLst>
          </p:cNvPr>
          <p:cNvSpPr txBox="1"/>
          <p:nvPr/>
        </p:nvSpPr>
        <p:spPr>
          <a:xfrm>
            <a:off x="914400" y="943837"/>
            <a:ext cx="8377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04" y="419579"/>
            <a:ext cx="7631709" cy="1091627"/>
          </a:xfrm>
        </p:spPr>
        <p:txBody>
          <a:bodyPr/>
          <a:lstStyle/>
          <a:p>
            <a:r>
              <a:rPr lang="en-US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Tech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60039-0E14-501D-16AF-8B1C86466575}"/>
              </a:ext>
            </a:extLst>
          </p:cNvPr>
          <p:cNvSpPr txBox="1"/>
          <p:nvPr/>
        </p:nvSpPr>
        <p:spPr>
          <a:xfrm>
            <a:off x="914400" y="1630797"/>
            <a:ext cx="45621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Python</a:t>
            </a:r>
            <a:b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Pandas</a:t>
            </a:r>
            <a:b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NumPy</a:t>
            </a: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LSTM (Time Series)</a:t>
            </a:r>
            <a:b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(Regression)</a:t>
            </a:r>
            <a:b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Ensemble Learning</a:t>
            </a: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VADER Sentiment Analysis</a:t>
            </a:r>
            <a:b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</a:t>
            </a:r>
            <a:b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Seaborn</a:t>
            </a: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Cloud, GitHub</a:t>
            </a:r>
          </a:p>
        </p:txBody>
      </p:sp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204ABE0A-9CE5-DD56-0719-F3A8BE61C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270" y="1511206"/>
            <a:ext cx="7049729" cy="47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17D8B26-4E95-5046-9BD0-6D260E36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76" y="279236"/>
            <a:ext cx="10671048" cy="1362057"/>
          </a:xfrm>
        </p:spPr>
        <p:txBody>
          <a:bodyPr/>
          <a:lstStyle/>
          <a:p>
            <a:r>
              <a:rPr lang="en-IN" sz="4800" b="0" cap="none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Work </a:t>
            </a:r>
            <a:r>
              <a:rPr lang="en-IN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Flow Diagram </a:t>
            </a:r>
          </a:p>
        </p:txBody>
      </p:sp>
      <p:sp>
        <p:nvSpPr>
          <p:cNvPr id="9" name="AutoShape 4" descr="TransferIQ system architecture flowchart">
            <a:extLst>
              <a:ext uri="{FF2B5EF4-FFF2-40B4-BE49-F238E27FC236}">
                <a16:creationId xmlns:a16="http://schemas.microsoft.com/office/drawing/2014/main" id="{C1DFB493-7F1C-5626-E96E-A46AE8D035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188480-465D-B105-94D8-A6734A20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74" y="1902135"/>
            <a:ext cx="6980904" cy="481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0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D12E6B-5CD6-97EB-3971-0B8A4481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8" y="958952"/>
            <a:ext cx="10511627" cy="1012785"/>
          </a:xfrm>
        </p:spPr>
        <p:txBody>
          <a:bodyPr/>
          <a:lstStyle/>
          <a:p>
            <a:r>
              <a:rPr lang="en-US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Comparison Of Models</a:t>
            </a:r>
            <a:endParaRPr lang="en-IN" sz="4800" b="0" cap="none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085482-CA4C-D323-4F3C-802D048FECD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079251931"/>
              </p:ext>
            </p:extLst>
          </p:nvPr>
        </p:nvGraphicFramePr>
        <p:xfrm>
          <a:off x="914400" y="2316161"/>
          <a:ext cx="10510836" cy="4133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27709">
                  <a:extLst>
                    <a:ext uri="{9D8B030D-6E8A-4147-A177-3AD203B41FA5}">
                      <a16:colId xmlns:a16="http://schemas.microsoft.com/office/drawing/2014/main" val="559103710"/>
                    </a:ext>
                  </a:extLst>
                </a:gridCol>
                <a:gridCol w="2627709">
                  <a:extLst>
                    <a:ext uri="{9D8B030D-6E8A-4147-A177-3AD203B41FA5}">
                      <a16:colId xmlns:a16="http://schemas.microsoft.com/office/drawing/2014/main" val="4089096107"/>
                    </a:ext>
                  </a:extLst>
                </a:gridCol>
                <a:gridCol w="2627709">
                  <a:extLst>
                    <a:ext uri="{9D8B030D-6E8A-4147-A177-3AD203B41FA5}">
                      <a16:colId xmlns:a16="http://schemas.microsoft.com/office/drawing/2014/main" val="3205696325"/>
                    </a:ext>
                  </a:extLst>
                </a:gridCol>
                <a:gridCol w="2627709">
                  <a:extLst>
                    <a:ext uri="{9D8B030D-6E8A-4147-A177-3AD203B41FA5}">
                      <a16:colId xmlns:a16="http://schemas.microsoft.com/office/drawing/2014/main" val="3838383505"/>
                    </a:ext>
                  </a:extLst>
                </a:gridCol>
              </a:tblGrid>
              <a:tr h="826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MAE (Mean Absolute Error)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RMSE (Root Mean Square Error)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R²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000249"/>
                  </a:ext>
                </a:extLst>
              </a:tr>
              <a:tr h="826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Uni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2,348,569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10,235,180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864627"/>
                  </a:ext>
                </a:extLst>
              </a:tr>
              <a:tr h="826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Multi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2,431,000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10,180,000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638398"/>
                  </a:ext>
                </a:extLst>
              </a:tr>
              <a:tr h="826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Tuned 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3,122,850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10,167,490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175304"/>
                  </a:ext>
                </a:extLst>
              </a:tr>
              <a:tr h="826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Ensemble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2,504,942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10,014,290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0.835</a:t>
                      </a:r>
                      <a:endParaRPr lang="en-IN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133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941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7" y="223442"/>
            <a:ext cx="7796464" cy="1222385"/>
          </a:xfrm>
        </p:spPr>
        <p:txBody>
          <a:bodyPr/>
          <a:lstStyle/>
          <a:p>
            <a:r>
              <a:rPr lang="en-IN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Feasibility &amp; viability</a:t>
            </a:r>
            <a:endParaRPr lang="en-US" sz="4800" b="0" cap="none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791751"/>
            <a:ext cx="3401961" cy="3720337"/>
          </a:xfrm>
        </p:spPr>
        <p:txBody>
          <a:bodyPr>
            <a:noAutofit/>
          </a:bodyPr>
          <a:lstStyle/>
          <a:p>
            <a:r>
              <a:rPr lang="en-IN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datasets available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 ML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ready</a:t>
            </a:r>
          </a:p>
          <a:p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can extend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sports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performance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Injury risk prediction</a:t>
            </a:r>
          </a:p>
          <a:p>
            <a:endParaRPr lang="en-IN" sz="22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1791750"/>
            <a:ext cx="3284951" cy="372033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Viability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users: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Football clubs</a:t>
            </a: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Scouts</a:t>
            </a: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Analysts</a:t>
            </a: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Sports agencies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487" y="257784"/>
            <a:ext cx="7043617" cy="1293036"/>
          </a:xfrm>
        </p:spPr>
        <p:txBody>
          <a:bodyPr/>
          <a:lstStyle/>
          <a:p>
            <a:r>
              <a:rPr lang="en-US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Impact And Benefits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66487" y="2137266"/>
            <a:ext cx="4228584" cy="4086553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Clubs: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valuation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Budget optimization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Analysts: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insights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Trend prediction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Industry: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Sports analytics advancement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905875" y="2303463"/>
            <a:ext cx="3286125" cy="3719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TransferIQ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enables: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transfer decisions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reduction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driven scouting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7A022A-8A8E-F384-4BAB-F4DFAFCF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778" y="319855"/>
            <a:ext cx="7965461" cy="994164"/>
          </a:xfrm>
        </p:spPr>
        <p:txBody>
          <a:bodyPr/>
          <a:lstStyle/>
          <a:p>
            <a:r>
              <a:rPr lang="en-US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Result (UI)</a:t>
            </a:r>
            <a:endParaRPr lang="en-IN" sz="4800" b="0" cap="none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3AE185-C5FA-58B1-DA3B-F26C6AA02F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348" y="1662399"/>
            <a:ext cx="10797239" cy="514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18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sz="4800" b="0" cap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9"/>
            <a:ext cx="9579552" cy="1747862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TransferIQ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AI can transform sports analytics by providing accurate and dynamic player valuation.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LSTM, ensemble learning and NLP creates a powerful prediction system.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0563" y="4390944"/>
            <a:ext cx="10049510" cy="1747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Live Project:</a:t>
            </a:r>
          </a:p>
          <a:p>
            <a:pPr marL="0" indent="0">
              <a:buNone/>
            </a:pP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https://transfer-iq-2tummjybe7u7tzkl3wxyzz.streamlit.app/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144750"/>
            <a:ext cx="5715000" cy="2727709"/>
          </a:xfrm>
        </p:spPr>
        <p:txBody>
          <a:bodyPr/>
          <a:lstStyle/>
          <a:p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{42D25E01-8D7F-468A-A3BC-D1FC2D84349B}TF8a9b5915-b8c7-461e-8cdd-693d48b5e32371f7b7e2_win32-4bf0b9a2ea37</Template>
  <TotalTime>60</TotalTime>
  <Words>410</Words>
  <Application>Microsoft Office PowerPoint</Application>
  <PresentationFormat>Widescreen</PresentationFormat>
  <Paragraphs>90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Times New Roman</vt:lpstr>
      <vt:lpstr>Custom</vt:lpstr>
      <vt:lpstr>Performance Analysis of Transfer Value Prediction Models  Performed By: ERNI SRI HARSHITHA </vt:lpstr>
      <vt:lpstr>Table Of Contents</vt:lpstr>
      <vt:lpstr>Problem: Football player transfer valuation is highly complex and often inaccurate due to: • Multiple influencing factors (performance, age, injuries) • market fluctuations • subjective human judgement • lack of integrated data analysis current systems lack real-time AI based valuation models.  Objective: To build a scalable AI system that predicts player transfer value using multi-source data and machine learning.</vt:lpstr>
      <vt:lpstr>PowerPoint Presentation</vt:lpstr>
      <vt:lpstr>Tech Stack</vt:lpstr>
      <vt:lpstr>Work Flow Diagram </vt:lpstr>
      <vt:lpstr>Comparison Of Models</vt:lpstr>
      <vt:lpstr>Feasibility &amp; viability</vt:lpstr>
      <vt:lpstr>Impact And Benefits</vt:lpstr>
      <vt:lpstr>Result (UI)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Harshitha Erni</dc:creator>
  <cp:lastModifiedBy>Harshitha Erni</cp:lastModifiedBy>
  <cp:revision>1</cp:revision>
  <dcterms:created xsi:type="dcterms:W3CDTF">2026-04-02T16:43:07Z</dcterms:created>
  <dcterms:modified xsi:type="dcterms:W3CDTF">2026-04-02T17:43:38Z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